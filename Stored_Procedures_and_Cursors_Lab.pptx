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Procedures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Cursors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reusable SQL logic, and processing result sets one row at a time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 •  Practical Session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Session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90-minute walkthrough, from syntax to hands-on examples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F2F5FA"/>
          </a:solidFill>
          <a:ln w="15875">
            <a:solidFill>
              <a:srgbClr val="3E7C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938528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procedures: what &amp; why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F2F5FA"/>
          </a:solidFill>
          <a:ln w="15875">
            <a:solidFill>
              <a:srgbClr val="3E7C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944368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parameters &amp; nesting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F2F5FA"/>
          </a:solidFill>
          <a:ln w="15875">
            <a:solidFill>
              <a:srgbClr val="3E7C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950208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procedure examples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F2F5FA"/>
          </a:solidFill>
          <a:ln w="15875">
            <a:solidFill>
              <a:srgbClr val="3E7C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956048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/ project schema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F2F5FA"/>
          </a:solidFill>
          <a:ln w="15875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1938528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cursor?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2240" y="2971800"/>
            <a:ext cx="457200" cy="457200"/>
          </a:xfrm>
          <a:prstGeom prst="ellipse">
            <a:avLst/>
          </a:prstGeom>
          <a:solidFill>
            <a:srgbClr val="F2F5FA"/>
          </a:solidFill>
          <a:ln w="15875">
            <a:solidFill>
              <a:srgbClr val="3E7C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2944368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lifecycle &amp; syntax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3977640"/>
            <a:ext cx="457200" cy="457200"/>
          </a:xfrm>
          <a:prstGeom prst="ellipse">
            <a:avLst/>
          </a:prstGeom>
          <a:solidFill>
            <a:srgbClr val="F2F5FA"/>
          </a:solidFill>
          <a:ln w="15875">
            <a:solidFill>
              <a:srgbClr val="3E7C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3950208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cursor examples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92240" y="4983480"/>
            <a:ext cx="457200" cy="457200"/>
          </a:xfrm>
          <a:prstGeom prst="ellipse">
            <a:avLst/>
          </a:prstGeom>
          <a:solidFill>
            <a:srgbClr val="F2F5FA"/>
          </a:solidFill>
          <a:ln w="15875">
            <a:solidFill>
              <a:srgbClr val="3E7C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32320" y="4956048"/>
            <a:ext cx="4297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Cursors vs. set-based SQL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Stored Procedure?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of SQL, saved under a name, that you call instead of retyping.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94767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 —  </a:t>
            </a:r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logic once, then call it from anywhere, as often as needed.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99923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 —  </a:t>
            </a:r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values in so one procedure adapts to different inputs and callers.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05079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Precompiled  —  </a:t>
            </a:r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builds an execution plan once and caches it for faster runs.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510235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 —  </a:t>
            </a:r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lives in one place instead of scattered across every app.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Defining, Calling, Dropping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492240" cy="4297680"/>
          </a:xfrm>
          <a:prstGeom prst="roundRect">
            <a:avLst>
              <a:gd name="adj" fmla="val 1702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600200"/>
            <a:ext cx="598017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$$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procedure_name(parameters)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SQL statements;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$$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Run it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procedure_name();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Remove it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PROCEDURE procedure_name;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06640" y="1673352"/>
            <a:ext cx="109728" cy="10972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146304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swaps the statement terminator so semicolons inside the body don't end the CREATE statement early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06640" y="3044952"/>
            <a:ext cx="109728" cy="10972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283464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executes the saved procedure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06640" y="4416552"/>
            <a:ext cx="109728" cy="10972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420624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PROCEDURE removes it permanently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Parameters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decide how values flow between the caller and the procedure.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2F5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parameter. Passes a value into the procedure; read-only inside the body.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2F5FA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2402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2461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74904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value back to the calling program once the procedure finishes.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2F5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2402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66760" y="32461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INOUT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66760" y="3749040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 at once — receives a value, and can return a changed one.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589520" cy="3840480"/>
          </a:xfrm>
          <a:prstGeom prst="roundRect">
            <a:avLst>
              <a:gd name="adj" fmla="val 1905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600200"/>
            <a:ext cx="707745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//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SelectAllCustomers()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 FROM Customers;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SelectAllCustomers();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75320" y="1417320"/>
            <a:ext cx="3337560" cy="3840480"/>
          </a:xfrm>
          <a:prstGeom prst="roundRect">
            <a:avLst>
              <a:gd name="adj" fmla="val 2740"/>
            </a:avLst>
          </a:prstGeom>
          <a:solidFill>
            <a:srgbClr val="F2F5FA"/>
          </a:solidFill>
          <a:ln/>
        </p:spPr>
      </p:sp>
      <p:sp>
        <p:nvSpPr>
          <p:cNvPr id="6" name="Text 4"/>
          <p:cNvSpPr/>
          <p:nvPr/>
        </p:nvSpPr>
        <p:spPr>
          <a:xfrm>
            <a:off x="8549640" y="182880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parameters here — the same result set comes back every time it's called.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Parameters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589520" cy="4297680"/>
          </a:xfrm>
          <a:prstGeom prst="roundRect">
            <a:avLst>
              <a:gd name="adj" fmla="val 1702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600200"/>
            <a:ext cx="707745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//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SelectAllCustomers(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input VARCHAR(30),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code INT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Customers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City = input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PostalCode = code;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SelectAllCustomers('London', 12345);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75320" y="1417320"/>
            <a:ext cx="3337560" cy="4297680"/>
          </a:xfrm>
          <a:prstGeom prst="roundRect">
            <a:avLst>
              <a:gd name="adj" fmla="val 2740"/>
            </a:avLst>
          </a:prstGeom>
          <a:solidFill>
            <a:srgbClr val="F2F5FA"/>
          </a:solidFill>
          <a:ln/>
        </p:spPr>
      </p:sp>
      <p:sp>
        <p:nvSpPr>
          <p:cNvPr id="6" name="Text 4"/>
          <p:cNvSpPr/>
          <p:nvPr/>
        </p:nvSpPr>
        <p:spPr>
          <a:xfrm>
            <a:off x="8549640" y="1828800"/>
            <a:ext cx="2788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 parameters shape the WHERE clause at call time — same procedure, different results per caller.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Stored Procedures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109728" cy="10972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417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procedure X inside the body of procedure Y is called “nesting”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79192"/>
            <a:ext cx="109728" cy="10972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4688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large blocks of SQL into smaller, reusable pieces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730752"/>
            <a:ext cx="109728" cy="109728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520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modularity — fix or extend one piece without touching the rest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532120" y="1417320"/>
            <a:ext cx="6126480" cy="4480560"/>
          </a:xfrm>
          <a:prstGeom prst="roundRect">
            <a:avLst>
              <a:gd name="adj" fmla="val 1633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88152" y="1600200"/>
            <a:ext cx="561441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//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say_hello(IN name VARCHAR(50))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CONCAT('Hello, ', name, '!')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greeting;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greet_team()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 say_hello('Alice');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 say_hello('Bob');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DELIMITER 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greet_team();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572000" cy="45720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The Company Schema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tables we'll reuse for every example ahead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Practice Schema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1417320"/>
          </a:xfrm>
          <a:prstGeom prst="roundRect">
            <a:avLst>
              <a:gd name="adj" fmla="val 6452"/>
            </a:avLst>
          </a:prstGeom>
          <a:solidFill>
            <a:srgbClr val="F2F5F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27632"/>
            <a:ext cx="4724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084832"/>
            <a:ext cx="47242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dept_id · dept_name · location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1417320"/>
          </a:xfrm>
          <a:prstGeom prst="roundRect">
            <a:avLst>
              <a:gd name="adj" fmla="val 6452"/>
            </a:avLst>
          </a:prstGeom>
          <a:solidFill>
            <a:srgbClr val="F2F5FA"/>
          </a:solidFill>
          <a:ln/>
        </p:spPr>
      </p:sp>
      <p:sp>
        <p:nvSpPr>
          <p:cNvPr id="7" name="Text 5"/>
          <p:cNvSpPr/>
          <p:nvPr/>
        </p:nvSpPr>
        <p:spPr>
          <a:xfrm>
            <a:off x="6598768" y="1627632"/>
            <a:ext cx="4724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98768" y="2084832"/>
            <a:ext cx="47242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 · emp_name · dept_id · manager_id · salary · hire_date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364328" cy="1417320"/>
          </a:xfrm>
          <a:prstGeom prst="roundRect">
            <a:avLst>
              <a:gd name="adj" fmla="val 6452"/>
            </a:avLst>
          </a:prstGeom>
          <a:solidFill>
            <a:srgbClr val="F2F5F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10712"/>
            <a:ext cx="4724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3867912"/>
            <a:ext cx="47242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project_id · project_name · budget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8728" y="3246120"/>
            <a:ext cx="5364328" cy="1417320"/>
          </a:xfrm>
          <a:prstGeom prst="roundRect">
            <a:avLst>
              <a:gd name="adj" fmla="val 6452"/>
            </a:avLst>
          </a:prstGeom>
          <a:solidFill>
            <a:srgbClr val="F2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6598768" y="3410712"/>
            <a:ext cx="4724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Project_Assignments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98768" y="3867912"/>
            <a:ext cx="47242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 · project_id · hours_worked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self-references manager_id — every manager is also an employee.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 Safely: AddEmployee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589520" cy="4206240"/>
          </a:xfrm>
          <a:prstGeom prst="roundRect">
            <a:avLst>
              <a:gd name="adj" fmla="val 1739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600200"/>
            <a:ext cx="707745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AddEmployee (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p_id INT, IN p_name VARCHAR(100),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p_dept INT, IN p_manager INT,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p_salary DECIMAL(10,2), IN p_hire DATE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Employees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(emp_id, emp_name, dept_id,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manager_id, salary, hire_date)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(p_id, p_name, p_dept,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p_manager, p_salary, p_hire);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75320" y="1417320"/>
            <a:ext cx="3337560" cy="4206240"/>
          </a:xfrm>
          <a:prstGeom prst="roundRect">
            <a:avLst>
              <a:gd name="adj" fmla="val 2740"/>
            </a:avLst>
          </a:prstGeom>
          <a:solidFill>
            <a:srgbClr val="F2F5FA"/>
          </a:solidFill>
          <a:ln/>
        </p:spPr>
      </p:sp>
      <p:sp>
        <p:nvSpPr>
          <p:cNvPr id="6" name="Text 4"/>
          <p:cNvSpPr/>
          <p:nvPr/>
        </p:nvSpPr>
        <p:spPr>
          <a:xfrm>
            <a:off x="8549640" y="1828800"/>
            <a:ext cx="2788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 parameters — one call inserts one clean, validated row.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&amp; Reporting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554480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UpdateSalary (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p_emp_id INT,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p_new_salary DECIMAL(10,2)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Employees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salary = p_new_salary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emp_id = p_emp_id;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172200" y="13716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28232" y="1554480"/>
            <a:ext cx="497433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GetDeptStats (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p_dept_id INT,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 p_emp_count INT,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 p_total_salary DECIMAL(12,2)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COUNT(*),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COALESCE(SUM(salary),0)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p_emp_count, p_total_salary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Employees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dept_id = p_dept_id;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5715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GetDeptStats uses OUT parameters — call it, then read the values it hands back to you.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Logic: ApplyTenureBonus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589520" cy="3840480"/>
          </a:xfrm>
          <a:prstGeom prst="roundRect">
            <a:avLst>
              <a:gd name="adj" fmla="val 1905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600200"/>
            <a:ext cx="707745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ApplyTenureBonus (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p_dept_id INT,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p_bonus_amount DECIMAL(8,2)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Employees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salary = salary + p_bonus_amount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dept_id = p_dept_id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hire_date &lt; '2020-01-01';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75320" y="1417320"/>
            <a:ext cx="3337560" cy="3840480"/>
          </a:xfrm>
          <a:prstGeom prst="roundRect">
            <a:avLst>
              <a:gd name="adj" fmla="val 2740"/>
            </a:avLst>
          </a:prstGeom>
          <a:solidFill>
            <a:srgbClr val="F2F5FA"/>
          </a:solidFill>
          <a:ln/>
        </p:spPr>
      </p:sp>
      <p:sp>
        <p:nvSpPr>
          <p:cNvPr id="6" name="Text 4"/>
          <p:cNvSpPr/>
          <p:nvPr/>
        </p:nvSpPr>
        <p:spPr>
          <a:xfrm>
            <a:off x="8549640" y="182880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WHERE clause is the condition — only pre-2020 hires in the given department get the bonus.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572000" cy="45720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a result set one row at a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Cursor?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workspace the server allocates so you can step through a result set row by row.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F2F5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4343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automatically by the server for every DML statement — you never declare it yourself.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89320" y="214884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F2F5FA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4231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55080" y="3017520"/>
            <a:ext cx="4343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by you, when you need a row-by-row FETCH loop over a chosen query.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You Reach for a Cursor?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93776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are built to handle data in sets — a single UPDATE or JOIN usually outperforms a row-by-row loop.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80760" y="1554480"/>
            <a:ext cx="5577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—  </a:t>
            </a:r>
            <a:pPr indent="0" marL="0">
              <a:buNone/>
            </a:pPr>
            <a:r>
              <a:rPr lang="en-US" sz="14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genuinely depends on one row at a time — e.g., calling an external routine per row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080760" y="2743200"/>
            <a:ext cx="5577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when  —  </a:t>
            </a:r>
            <a:pPr indent="0" marL="0">
              <a:buNone/>
            </a:pPr>
            <a:r>
              <a:rPr lang="en-US" sz="14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JOIN, UPDATE … WHERE, or aggregate query can express the same result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080760" y="3931920"/>
            <a:ext cx="5577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 —  </a:t>
            </a:r>
            <a:pPr indent="0" marL="0">
              <a:buNone/>
            </a:pPr>
            <a:r>
              <a:rPr lang="en-US" sz="14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cursors can very often be replaced by JOINs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Cycle of a Cursor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3383280"/>
            <a:ext cx="1371600" cy="731520"/>
          </a:xfrm>
          <a:prstGeom prst="roundRect">
            <a:avLst>
              <a:gd name="adj" fmla="val 112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3383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20240" y="3675888"/>
            <a:ext cx="292608" cy="146304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6" name="Shape 4"/>
          <p:cNvSpPr/>
          <p:nvPr/>
        </p:nvSpPr>
        <p:spPr>
          <a:xfrm>
            <a:off x="2212848" y="3383280"/>
            <a:ext cx="1371600" cy="731520"/>
          </a:xfrm>
          <a:prstGeom prst="roundRect">
            <a:avLst>
              <a:gd name="adj" fmla="val 112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12848" y="3383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84448" y="3675888"/>
            <a:ext cx="292608" cy="146304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9" name="Shape 7"/>
          <p:cNvSpPr/>
          <p:nvPr/>
        </p:nvSpPr>
        <p:spPr>
          <a:xfrm>
            <a:off x="3877056" y="3383280"/>
            <a:ext cx="1371600" cy="731520"/>
          </a:xfrm>
          <a:prstGeom prst="roundRect">
            <a:avLst>
              <a:gd name="adj" fmla="val 112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77056" y="3383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41264" y="3177540"/>
            <a:ext cx="1280160" cy="1143000"/>
          </a:xfrm>
          <a:prstGeom prst="diamond">
            <a:avLst/>
          </a:prstGeom>
          <a:solidFill>
            <a:srgbClr val="F2F5FA"/>
          </a:solidFill>
          <a:ln w="1905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41264" y="3177540"/>
            <a:ext cx="1280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2423160"/>
            <a:ext cx="0" cy="75438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62856" y="2423160"/>
            <a:ext cx="161848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flipV="1">
            <a:off x="4489704" y="2423160"/>
            <a:ext cx="146304" cy="96012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4197096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21424" y="3675888"/>
            <a:ext cx="292608" cy="146304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18" name="Text 16"/>
          <p:cNvSpPr/>
          <p:nvPr/>
        </p:nvSpPr>
        <p:spPr>
          <a:xfrm>
            <a:off x="6647688" y="30540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14032" y="3383280"/>
            <a:ext cx="1371600" cy="731520"/>
          </a:xfrm>
          <a:prstGeom prst="roundRect">
            <a:avLst>
              <a:gd name="adj" fmla="val 112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14032" y="3383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85632" y="3675888"/>
            <a:ext cx="292608" cy="146304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22" name="Shape 20"/>
          <p:cNvSpPr/>
          <p:nvPr/>
        </p:nvSpPr>
        <p:spPr>
          <a:xfrm>
            <a:off x="8778240" y="3383280"/>
            <a:ext cx="1554480" cy="731520"/>
          </a:xfrm>
          <a:prstGeom prst="roundRect">
            <a:avLst>
              <a:gd name="adj" fmla="val 11250"/>
            </a:avLst>
          </a:prstGeom>
          <a:solidFill>
            <a:srgbClr val="3E7CB1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78240" y="3383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DEALLOCATE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CONTINUE HANDLER sets a done flag when FETCH runs out of rows — that flag drives the EMPTY? check.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 Syntax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0177272" cy="4480560"/>
          </a:xfrm>
          <a:prstGeom prst="roundRect">
            <a:avLst>
              <a:gd name="adj" fmla="val 1633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600200"/>
            <a:ext cx="966520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variables, records;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cursor_name CURSOR FOR select_statement;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CONTINUE HANDLER FOR NOT FOUND SET done = 1;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cursor_name;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read_loop: LOOP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 cursor_name INTO variables;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done THEN LEAVE read_loop; END IF;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process the row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LOOP;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 cursor_name;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DEALLOCATE cursor_name;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Row-by-Row Reporting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0177272" cy="4572000"/>
          </a:xfrm>
          <a:prstGeom prst="roundRect">
            <a:avLst>
              <a:gd name="adj" fmla="val 1600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463040"/>
            <a:ext cx="966520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CursorPrintAllEmployees()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v_done INT DEFAULT 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v_name VARCHAR(100);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v_sal DECIMAL(10,2);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cur CURSOR FOR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emp_name, salary FROM Employees;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CONTINUE HANDLER FOR NOT FOUND SET v_done = 1;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 cur;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read_loop: LOOP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 cur INTO v_name, v_sal;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v_done THEN LEAVE read_loop; END IF;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CONCAT('Employee: ', v_name, ' | Salary: ', v_sal);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LOOP;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 cur;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one formatted line per employee — a good first cursor to trace by hand.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Row-by-Row Updates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0177272" cy="4572000"/>
          </a:xfrm>
          <a:prstGeom prst="roundRect">
            <a:avLst>
              <a:gd name="adj" fmla="val 1600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463040"/>
            <a:ext cx="966520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CursorInflationAdjustment()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v_done INT DEFAULT 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v_id INT;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v_sal DECIMAL(10,2);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cur CURSOR FOR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emp_id, salary FROM Employees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salary &lt; 80000;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CONTINUE HANDLER FOR NOT FOUND SET v_done = 1;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 cur;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read_loop: LOOP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 cur INTO v_id, v_sal;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v_done THEN LEAVE read_loop; END IF;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Employees SET salary = v_sal * 1.10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emp_id = v_id;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LOOP;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 cur;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could a single UPDATE … WHERE salary &lt; 80000 replace this entire cursor?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Alerts, Row by Row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0177272" cy="4572000"/>
          </a:xfrm>
          <a:prstGeom prst="roundRect">
            <a:avLst>
              <a:gd name="adj" fmla="val 1600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463040"/>
            <a:ext cx="966520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CursorLogHighBudgetProjects()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v_done INT DEFAULT 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v_pname VARCHAR(100);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v_budget DECIMAL(12,2);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cur CURSOR FOR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project_name, budget FROM Projects;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CONTINUE HANDLER FOR NOT FOUND SET v_done = 1;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 cur;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read_loop: LOOP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 cur INTO v_pname, v_budget;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v_done THEN LEAVE read_loop; END IF;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v_budget &gt; 100000 THEN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SELECT CONCAT('High Priority: ', v_pname);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LOOP;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 cur;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cursor loop with an IF check inside it — logic per row, not just data per row.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Auditing Assignments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0177272" cy="4572000"/>
          </a:xfrm>
          <a:prstGeom prst="roundRect">
            <a:avLst>
              <a:gd name="adj" fmla="val 1600"/>
            </a:avLst>
          </a:prstGeom>
          <a:solidFill>
            <a:srgbClr val="16202B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463040"/>
            <a:ext cx="966520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CursorAuditAssignments()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v_done INT DEFAULT 0;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v_emp INT;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v_proj INT;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v_hours INT;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cur CURSOR FOR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emp_id, project_id, hours_worked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Project_Assignments;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CONTINUE HANDLER FOR NOT FOUND SET v_done = 1;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 cur;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read_loop: LOOP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 cur INTO v_emp, v_proj, v_hours;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v_done THEN LEAVE read_loop; END IF;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v_hours &gt; 150 THEN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SELECT CONCAT('Heavy workload: Emp ', v_emp);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LOOP;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 cur;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//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row-by-row audit check — flags any assignment over 150 logged hours.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schema from Part Two, work through these on your own machine.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9280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procedure GetEmployeesByDept(IN dept_id) that selects every employee in a department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85292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OUT parameter that also returns the department's average salary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81304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cursor that gives a 5% raise to every employee on the Cloud Migration project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77316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one cursor example as a single set-based UPDATE or JOIN, and compare the results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package reusable SQL and accept IN / OUT / INOUT parameters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procedures keeps large logic modular and easier to maintain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9476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Cursors step through results row by row — powerful, but not always necessary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006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JOIN or a set-based statement before reaching for a cursor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10512"/>
            <a:ext cx="91440" cy="9144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geeksforgeeks.org — Difference Between Functions and Stored Procedures in PL/SQL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04872"/>
            <a:ext cx="91440" cy="9144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docs.oracle.com — PL/SQL Overview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99232"/>
            <a:ext cx="91440" cy="9144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mysqltutorial.org — Stored Procedure Parameters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93592"/>
            <a:ext cx="91440" cy="9144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83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 — DECLARE CURSOR (Transact-SQL)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87952"/>
            <a:ext cx="91440" cy="9144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coderpad.io — Advanced Stored Procedures in MySQL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&amp; Cursors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2026-08-19T19:43:54Z</dcterms:created>
  <dcterms:modified xsi:type="dcterms:W3CDTF">2026-08-19T19:43:54Z</dcterms:modified>
</cp:coreProperties>
</file>